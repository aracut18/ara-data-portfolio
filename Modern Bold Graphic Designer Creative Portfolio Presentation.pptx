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elios Extended Bold" charset="1" panose="02000805050000020004"/>
      <p:regular r:id="rId12"/>
    </p:embeddedFont>
    <p:embeddedFont>
      <p:font typeface="Agrandir Bold" charset="1" panose="00000800000000000000"/>
      <p:regular r:id="rId13"/>
    </p:embeddedFont>
    <p:embeddedFont>
      <p:font typeface="Agrandir" charset="1" panose="00000500000000000000"/>
      <p:regular r:id="rId14"/>
    </p:embeddedFont>
    <p:embeddedFont>
      <p:font typeface="Agrandir Italic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rive.google.com/file/d/1Mx1t2fH8a3RVZOea8U1IthZSGyobKLTB/view?usp=drive_link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https://colab.research.google.com/drive/1-kxy4lvQsS7l3kAgLBmz5XozknNBYSai?usp=sharing" TargetMode="External" Type="http://schemas.openxmlformats.org/officeDocument/2006/relationships/hyperlink"/><Relationship Id="rId8" Target="https://public.tableau.com/views/LunaraPerformanceAnalysis/Dashboard1?:language=en-US&amp;:sid=&amp;:redirect=auth&amp;:display_count=n&amp;:origin=viz_share_link" TargetMode="External" Type="http://schemas.openxmlformats.org/officeDocument/2006/relationships/hyperlink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2.png" Type="http://schemas.openxmlformats.org/officeDocument/2006/relationships/image"/><Relationship Id="rId8" Target="https://public.tableau.com/app/profile/hanifah.zahra6513/viz/DatvizHanifahZahraOCT25/RevoFinanceUserSpendingDashboard?publish=yes" TargetMode="External" Type="http://schemas.openxmlformats.org/officeDocument/2006/relationships/hyperlink"/><Relationship Id="rId9" Target="https://docs.google.com/presentation/d/1Ldqd_RY2FZXRd524_v9WH5laEFchWrRqSN-KaOcF8w8/edit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3444" t="0" r="-13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65940">
            <a:off x="4176692" y="1233909"/>
            <a:ext cx="9934617" cy="4461546"/>
          </a:xfrm>
          <a:custGeom>
            <a:avLst/>
            <a:gdLst/>
            <a:ahLst/>
            <a:cxnLst/>
            <a:rect r="r" b="b" t="t" l="l"/>
            <a:pathLst>
              <a:path h="4461546" w="9934617">
                <a:moveTo>
                  <a:pt x="0" y="0"/>
                </a:moveTo>
                <a:lnTo>
                  <a:pt x="9934616" y="0"/>
                </a:lnTo>
                <a:lnTo>
                  <a:pt x="9934616" y="4461546"/>
                </a:lnTo>
                <a:lnTo>
                  <a:pt x="0" y="4461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36514" y="1241997"/>
            <a:ext cx="7814972" cy="292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6"/>
              </a:lnSpc>
              <a:spcBef>
                <a:spcPct val="0"/>
              </a:spcBef>
            </a:pPr>
            <a:r>
              <a:rPr lang="en-US" b="true" sz="16483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47364" y="3055107"/>
            <a:ext cx="7993272" cy="292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6"/>
              </a:lnSpc>
              <a:spcBef>
                <a:spcPct val="0"/>
              </a:spcBef>
            </a:pPr>
            <a:r>
              <a:rPr lang="en-US" b="true" sz="16483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FOLIO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623481" y="3106246"/>
            <a:ext cx="2695508" cy="2786709"/>
          </a:xfrm>
          <a:custGeom>
            <a:avLst/>
            <a:gdLst/>
            <a:ahLst/>
            <a:cxnLst/>
            <a:rect r="r" b="b" t="t" l="l"/>
            <a:pathLst>
              <a:path h="2786709" w="2695508">
                <a:moveTo>
                  <a:pt x="0" y="0"/>
                </a:moveTo>
                <a:lnTo>
                  <a:pt x="2695507" y="0"/>
                </a:lnTo>
                <a:lnTo>
                  <a:pt x="2695507" y="2786709"/>
                </a:lnTo>
                <a:lnTo>
                  <a:pt x="0" y="27867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01311" y="703610"/>
            <a:ext cx="2570806" cy="2206219"/>
          </a:xfrm>
          <a:custGeom>
            <a:avLst/>
            <a:gdLst/>
            <a:ahLst/>
            <a:cxnLst/>
            <a:rect r="r" b="b" t="t" l="l"/>
            <a:pathLst>
              <a:path h="2206219" w="2570806">
                <a:moveTo>
                  <a:pt x="0" y="0"/>
                </a:moveTo>
                <a:lnTo>
                  <a:pt x="2570806" y="0"/>
                </a:lnTo>
                <a:lnTo>
                  <a:pt x="2570806" y="2206219"/>
                </a:lnTo>
                <a:lnTo>
                  <a:pt x="0" y="22062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1157" y="6222175"/>
            <a:ext cx="10905686" cy="197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Hanifah Zahra</a:t>
            </a:r>
          </a:p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an Aspire Data Analyst!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3444" t="0" r="-13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89521" y="1028700"/>
            <a:ext cx="6508959" cy="7682247"/>
          </a:xfrm>
          <a:custGeom>
            <a:avLst/>
            <a:gdLst/>
            <a:ahLst/>
            <a:cxnLst/>
            <a:rect r="r" b="b" t="t" l="l"/>
            <a:pathLst>
              <a:path h="7682247" w="6508959">
                <a:moveTo>
                  <a:pt x="0" y="0"/>
                </a:moveTo>
                <a:lnTo>
                  <a:pt x="6508958" y="0"/>
                </a:lnTo>
                <a:lnTo>
                  <a:pt x="6508958" y="7682247"/>
                </a:lnTo>
                <a:lnTo>
                  <a:pt x="0" y="7682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143050">
            <a:off x="6753130" y="1810898"/>
            <a:ext cx="4781740" cy="6117851"/>
            <a:chOff x="0" y="0"/>
            <a:chExt cx="740817" cy="9478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817" cy="947815"/>
            </a:xfrm>
            <a:custGeom>
              <a:avLst/>
              <a:gdLst/>
              <a:ahLst/>
              <a:cxnLst/>
              <a:rect r="r" b="b" t="t" l="l"/>
              <a:pathLst>
                <a:path h="947815" w="740817">
                  <a:moveTo>
                    <a:pt x="0" y="0"/>
                  </a:moveTo>
                  <a:lnTo>
                    <a:pt x="740817" y="0"/>
                  </a:lnTo>
                  <a:lnTo>
                    <a:pt x="740817" y="947815"/>
                  </a:lnTo>
                  <a:lnTo>
                    <a:pt x="0" y="947815"/>
                  </a:lnTo>
                  <a:close/>
                </a:path>
              </a:pathLst>
            </a:custGeom>
            <a:blipFill>
              <a:blip r:embed="rId5"/>
              <a:stretch>
                <a:fillRect l="0" t="-3912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348873"/>
            <a:ext cx="5258460" cy="415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HEY THERE,</a:t>
            </a:r>
          </a:p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ARA IS HERE!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78650" y="2302545"/>
            <a:ext cx="4780650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It is my mission to transform</a:t>
            </a:r>
            <a:r>
              <a:rPr lang="en-US" b="true" sz="3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b="true" sz="3200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raw data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into </a:t>
            </a:r>
            <a:r>
              <a:rPr lang="en-US" b="true" sz="3200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meaningful insight</a:t>
            </a:r>
            <a:r>
              <a:rPr lang="en-US" b="true" sz="3200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s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ha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 driv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impact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and i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nfor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ed dec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ion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78650" y="5204787"/>
            <a:ext cx="4780650" cy="348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 specialize in </a:t>
            </a:r>
            <a:r>
              <a:rPr lang="en-US" b="true" sz="3200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uncovering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patterns, </a:t>
            </a:r>
            <a:r>
              <a:rPr lang="en-US" b="true" sz="3200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building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clear 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visual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iz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ati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ons, 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nd </a:t>
            </a:r>
            <a:r>
              <a:rPr lang="en-US" b="true" sz="3200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3200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urn</a:t>
            </a:r>
            <a:r>
              <a:rPr lang="en-US" b="true" sz="3200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ing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compl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x number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 storie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 </a:t>
            </a:r>
            <a:r>
              <a:rPr lang="en-US" sz="32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that speak for themselves.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3444" t="0" r="-13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683">
            <a:off x="1259958" y="1216821"/>
            <a:ext cx="5514011" cy="6291921"/>
          </a:xfrm>
          <a:custGeom>
            <a:avLst/>
            <a:gdLst/>
            <a:ahLst/>
            <a:cxnLst/>
            <a:rect r="r" b="b" t="t" l="l"/>
            <a:pathLst>
              <a:path h="6291921" w="5514011">
                <a:moveTo>
                  <a:pt x="0" y="0"/>
                </a:moveTo>
                <a:lnTo>
                  <a:pt x="5514010" y="0"/>
                </a:lnTo>
                <a:lnTo>
                  <a:pt x="5514010" y="6291921"/>
                </a:lnTo>
                <a:lnTo>
                  <a:pt x="0" y="62919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70182" y="1509276"/>
            <a:ext cx="6262538" cy="6000650"/>
          </a:xfrm>
          <a:custGeom>
            <a:avLst/>
            <a:gdLst/>
            <a:ahLst/>
            <a:cxnLst/>
            <a:rect r="r" b="b" t="t" l="l"/>
            <a:pathLst>
              <a:path h="6000650" w="6262538">
                <a:moveTo>
                  <a:pt x="0" y="0"/>
                </a:moveTo>
                <a:lnTo>
                  <a:pt x="6262538" y="0"/>
                </a:lnTo>
                <a:lnTo>
                  <a:pt x="6262538" y="6000650"/>
                </a:lnTo>
                <a:lnTo>
                  <a:pt x="0" y="6000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06436" y="2815062"/>
            <a:ext cx="6491075" cy="6455669"/>
          </a:xfrm>
          <a:custGeom>
            <a:avLst/>
            <a:gdLst/>
            <a:ahLst/>
            <a:cxnLst/>
            <a:rect r="r" b="b" t="t" l="l"/>
            <a:pathLst>
              <a:path h="6455669" w="6491075">
                <a:moveTo>
                  <a:pt x="0" y="0"/>
                </a:moveTo>
                <a:lnTo>
                  <a:pt x="6491075" y="0"/>
                </a:lnTo>
                <a:lnTo>
                  <a:pt x="6491075" y="6455669"/>
                </a:lnTo>
                <a:lnTo>
                  <a:pt x="0" y="6455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61683">
            <a:off x="1855251" y="4059556"/>
            <a:ext cx="4117068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RevoU</a:t>
            </a:r>
          </a:p>
        </p:txBody>
      </p:sp>
      <p:sp>
        <p:nvSpPr>
          <p:cNvPr name="TextBox 7" id="7"/>
          <p:cNvSpPr txBox="true"/>
          <p:nvPr/>
        </p:nvSpPr>
        <p:spPr>
          <a:xfrm rot="-261683">
            <a:off x="1881921" y="4409239"/>
            <a:ext cx="4117068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2025 - 2026</a:t>
            </a:r>
          </a:p>
        </p:txBody>
      </p:sp>
      <p:sp>
        <p:nvSpPr>
          <p:cNvPr name="TextBox 8" id="8"/>
          <p:cNvSpPr txBox="true"/>
          <p:nvPr/>
        </p:nvSpPr>
        <p:spPr>
          <a:xfrm rot="-261683">
            <a:off x="1822651" y="3554137"/>
            <a:ext cx="4427365" cy="56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Full Stack Data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-261683">
            <a:off x="1952579" y="5334619"/>
            <a:ext cx="4117068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Universitas Sumatera Utara</a:t>
            </a:r>
          </a:p>
        </p:txBody>
      </p:sp>
      <p:sp>
        <p:nvSpPr>
          <p:cNvPr name="TextBox 10" id="10"/>
          <p:cNvSpPr txBox="true"/>
          <p:nvPr/>
        </p:nvSpPr>
        <p:spPr>
          <a:xfrm rot="-261683">
            <a:off x="1979248" y="5684302"/>
            <a:ext cx="4117068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2019 - 2023</a:t>
            </a:r>
          </a:p>
        </p:txBody>
      </p:sp>
      <p:sp>
        <p:nvSpPr>
          <p:cNvPr name="TextBox 11" id="11"/>
          <p:cNvSpPr txBox="true"/>
          <p:nvPr/>
        </p:nvSpPr>
        <p:spPr>
          <a:xfrm rot="-261683">
            <a:off x="1920428" y="4840999"/>
            <a:ext cx="4117068" cy="56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Industrial Engineering</a:t>
            </a:r>
          </a:p>
        </p:txBody>
      </p:sp>
      <p:sp>
        <p:nvSpPr>
          <p:cNvPr name="TextBox 12" id="12"/>
          <p:cNvSpPr txBox="true"/>
          <p:nvPr/>
        </p:nvSpPr>
        <p:spPr>
          <a:xfrm rot="-261683">
            <a:off x="1576611" y="2493930"/>
            <a:ext cx="4661164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EDUCATION</a:t>
            </a:r>
          </a:p>
        </p:txBody>
      </p:sp>
      <p:sp>
        <p:nvSpPr>
          <p:cNvPr name="TextBox 13" id="13"/>
          <p:cNvSpPr txBox="true"/>
          <p:nvPr/>
        </p:nvSpPr>
        <p:spPr>
          <a:xfrm rot="325047">
            <a:off x="6915567" y="4670249"/>
            <a:ext cx="4470357" cy="304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Excel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SQL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Tableau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Visualization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Communication</a:t>
            </a:r>
          </a:p>
        </p:txBody>
      </p:sp>
      <p:sp>
        <p:nvSpPr>
          <p:cNvPr name="TextBox 14" id="14"/>
          <p:cNvSpPr txBox="true"/>
          <p:nvPr/>
        </p:nvSpPr>
        <p:spPr>
          <a:xfrm rot="325047">
            <a:off x="7838684" y="4042108"/>
            <a:ext cx="3146230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SKILLS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70925" y="4509548"/>
            <a:ext cx="36610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PT Multi Medika Laboratory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70925" y="4860247"/>
            <a:ext cx="36610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2023-2025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70925" y="4043279"/>
            <a:ext cx="3661050" cy="45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Sales &amp; Account Handler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29759" y="3032823"/>
            <a:ext cx="514338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EXPERIENCE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3444" t="0" r="-13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93800">
            <a:off x="14117121" y="9178999"/>
            <a:ext cx="5096466" cy="2807690"/>
          </a:xfrm>
          <a:custGeom>
            <a:avLst/>
            <a:gdLst/>
            <a:ahLst/>
            <a:cxnLst/>
            <a:rect r="r" b="b" t="t" l="l"/>
            <a:pathLst>
              <a:path h="2807690" w="5096466">
                <a:moveTo>
                  <a:pt x="0" y="0"/>
                </a:moveTo>
                <a:lnTo>
                  <a:pt x="5096466" y="0"/>
                </a:lnTo>
                <a:lnTo>
                  <a:pt x="5096466" y="2807690"/>
                </a:lnTo>
                <a:lnTo>
                  <a:pt x="0" y="2807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47667">
            <a:off x="6661493" y="893148"/>
            <a:ext cx="2467653" cy="2467653"/>
          </a:xfrm>
          <a:custGeom>
            <a:avLst/>
            <a:gdLst/>
            <a:ahLst/>
            <a:cxnLst/>
            <a:rect r="r" b="b" t="t" l="l"/>
            <a:pathLst>
              <a:path h="2467653" w="2467653">
                <a:moveTo>
                  <a:pt x="0" y="0"/>
                </a:moveTo>
                <a:lnTo>
                  <a:pt x="2467652" y="0"/>
                </a:lnTo>
                <a:lnTo>
                  <a:pt x="2467652" y="2467653"/>
                </a:lnTo>
                <a:lnTo>
                  <a:pt x="0" y="24676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85380"/>
            <a:ext cx="7921503" cy="193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PROJECT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3300" b="true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BEAUTY E-COMMERCE PERFORMANCE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708" y="420385"/>
            <a:ext cx="7406841" cy="1056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Overview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LANURA is a Brazilian Beauty &amp; Personal Care e-commerce platform with 12,013 orders over two years and an average rating of 4.2. However, 20% of orders received low ratings (1–3), indicating potential customer retention risks.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Identify key drivers of low ratings and design targeted operational interventions to increase the average rating from 4.2 to 4.5 within 12 months.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Tools</a:t>
            </a:r>
          </a:p>
          <a:p>
            <a:pPr algn="l">
              <a:lnSpc>
                <a:spcPts val="2879"/>
              </a:lnSpc>
            </a:pPr>
            <a:r>
              <a:rPr lang="en-US" sz="2400" u="sng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  <a:hlinkClick r:id="rId7" tooltip="https://colab.research.google.com/drive/1-kxy4lvQsS7l3kAgLBmz5XozknNBYSai?usp=sharing"/>
              </a:rPr>
              <a:t>Python (Google Colab)</a:t>
            </a: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and </a:t>
            </a:r>
            <a:r>
              <a:rPr lang="en-US" sz="2400" u="sng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  <a:hlinkClick r:id="rId8" tooltip="https://public.tableau.com/views/LunaraPerformanceAnalysis/Dashboard1?:language=en-US&amp;:sid=&amp;:redirect=auth&amp;:display_count=n&amp;:origin=viz_share_link"/>
              </a:rPr>
              <a:t>Tableau Public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K</a:t>
            </a:r>
            <a:r>
              <a:rPr lang="en-US" sz="2799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ey Findings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Delivery delays are the strongest predictor of customer dissatisfaction: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71% of late deliveries resulted in low ratings, compared to 16% for on-time orders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Late orders are 4x more likely to receive poor reviews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5 sellers account for over 80% of total delivery delays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One seller alone generated 400+ low-rating orders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2942448"/>
            <a:ext cx="7668380" cy="5041960"/>
          </a:xfrm>
          <a:custGeom>
            <a:avLst/>
            <a:gdLst/>
            <a:ahLst/>
            <a:cxnLst/>
            <a:rect r="r" b="b" t="t" l="l"/>
            <a:pathLst>
              <a:path h="5041960" w="7668380">
                <a:moveTo>
                  <a:pt x="0" y="0"/>
                </a:moveTo>
                <a:lnTo>
                  <a:pt x="7668380" y="0"/>
                </a:lnTo>
                <a:lnTo>
                  <a:pt x="7668380" y="5041960"/>
                </a:lnTo>
                <a:lnTo>
                  <a:pt x="0" y="50419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334375"/>
            <a:ext cx="65718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  <a:hlinkClick r:id="rId10" tooltip="https://drive.google.com/file/d/1Mx1t2fH8a3RVZOea8U1IthZSGyobKLTB/view?usp=drive_link"/>
              </a:rPr>
              <a:t>Link to Project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3444" t="0" r="-13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93800">
            <a:off x="14117121" y="9178999"/>
            <a:ext cx="5096466" cy="2807690"/>
          </a:xfrm>
          <a:custGeom>
            <a:avLst/>
            <a:gdLst/>
            <a:ahLst/>
            <a:cxnLst/>
            <a:rect r="r" b="b" t="t" l="l"/>
            <a:pathLst>
              <a:path h="2807690" w="5096466">
                <a:moveTo>
                  <a:pt x="0" y="0"/>
                </a:moveTo>
                <a:lnTo>
                  <a:pt x="5096466" y="0"/>
                </a:lnTo>
                <a:lnTo>
                  <a:pt x="5096466" y="2807690"/>
                </a:lnTo>
                <a:lnTo>
                  <a:pt x="0" y="2807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47667">
            <a:off x="6661493" y="893148"/>
            <a:ext cx="2467653" cy="2467653"/>
          </a:xfrm>
          <a:custGeom>
            <a:avLst/>
            <a:gdLst/>
            <a:ahLst/>
            <a:cxnLst/>
            <a:rect r="r" b="b" t="t" l="l"/>
            <a:pathLst>
              <a:path h="2467653" w="2467653">
                <a:moveTo>
                  <a:pt x="0" y="0"/>
                </a:moveTo>
                <a:lnTo>
                  <a:pt x="2467652" y="0"/>
                </a:lnTo>
                <a:lnTo>
                  <a:pt x="2467652" y="2467653"/>
                </a:lnTo>
                <a:lnTo>
                  <a:pt x="0" y="24676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506756"/>
            <a:ext cx="7706798" cy="5667206"/>
          </a:xfrm>
          <a:custGeom>
            <a:avLst/>
            <a:gdLst/>
            <a:ahLst/>
            <a:cxnLst/>
            <a:rect r="r" b="b" t="t" l="l"/>
            <a:pathLst>
              <a:path h="5667206" w="7706798">
                <a:moveTo>
                  <a:pt x="0" y="0"/>
                </a:moveTo>
                <a:lnTo>
                  <a:pt x="7706798" y="0"/>
                </a:lnTo>
                <a:lnTo>
                  <a:pt x="7706798" y="5667206"/>
                </a:lnTo>
                <a:lnTo>
                  <a:pt x="0" y="56672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62006"/>
            <a:ext cx="7921503" cy="191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PROJECT</a:t>
            </a:r>
          </a:p>
          <a:p>
            <a:pPr algn="l">
              <a:lnSpc>
                <a:spcPts val="3299"/>
              </a:lnSpc>
            </a:pPr>
            <a:r>
              <a:rPr lang="en-US" sz="3299" b="true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REVOFINANCE: EXPENSE &amp; BUDGET UTILIZATION DASHBOARD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708" y="109537"/>
            <a:ext cx="8234321" cy="1004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Overview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</a:t>
            </a: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is project involves the development of the RevoFinance Expense &amp; Budget Utilization Dashboard. It is designed for RevoFinance app users to monitor spending, track financial patterns, and improve their overall financial condition. The dashboard provides a comprehensive overview of financial health by comparing actual expenses against planned budgets.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</a:t>
            </a:r>
            <a:r>
              <a:rPr lang="en-US" sz="23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 primary goal is to help users manage their budgets and make better financial decisions.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Tools</a:t>
            </a:r>
          </a:p>
          <a:p>
            <a:pPr algn="l">
              <a:lnSpc>
                <a:spcPts val="2879"/>
              </a:lnSpc>
            </a:pPr>
            <a:r>
              <a:rPr lang="en-US" sz="2400" u="sng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  <a:hlinkClick r:id="rId8" tooltip="https://public.tableau.com/app/profile/hanifah.zahra6513/viz/DatvizHanifahZahraOCT25/RevoFinanceUserSpendingDashboard?publish=yes"/>
              </a:rPr>
              <a:t>Tableau Public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K</a:t>
            </a:r>
            <a:r>
              <a:rPr lang="en-US" sz="2799" b="true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</a:rPr>
              <a:t>ey Findings</a:t>
            </a:r>
          </a:p>
          <a:p>
            <a:pPr algn="l" marL="431802" indent="-2159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project analyzed Rp509M in total expenses from 1,000 transactions, with an average spending of Rp509K per transaction.</a:t>
            </a:r>
          </a:p>
          <a:p>
            <a:pPr algn="l" marL="431802" indent="-2159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 critical insight shows that the Travel and Subscription categories exceeded their planned budgets, reaching approximately 110% utilization.</a:t>
            </a:r>
          </a:p>
          <a:p>
            <a:pPr algn="l" marL="431802" indent="-2159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When grouped, the Education, Entertainment, Subscription, and Travel categories hit a combined budget utilization of 111.1%, indicating a need for stricter controls.</a:t>
            </a:r>
          </a:p>
          <a:p>
            <a:pPr algn="l" marL="431802" indent="-2159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Monthly expenses peaked in December (Rp54M) and were at their lowest in October (Rp35M). Overall, cumulative spending showed a steady increase throughout 2024.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334375"/>
            <a:ext cx="65718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FFD034"/>
                </a:solidFill>
                <a:latin typeface="Agrandir Bold"/>
                <a:ea typeface="Agrandir Bold"/>
                <a:cs typeface="Agrandir Bold"/>
                <a:sym typeface="Agrandir Bold"/>
                <a:hlinkClick r:id="rId9" tooltip="https://docs.google.com/presentation/d/1Ldqd_RY2FZXRd524_v9WH5laEFchWrRqSN-KaOcF8w8/edit?usp=sharing"/>
              </a:rPr>
              <a:t>Link to Project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3444" t="0" r="-13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238810"/>
            <a:ext cx="556546" cy="556546"/>
          </a:xfrm>
          <a:custGeom>
            <a:avLst/>
            <a:gdLst/>
            <a:ahLst/>
            <a:cxnLst/>
            <a:rect r="r" b="b" t="t" l="l"/>
            <a:pathLst>
              <a:path h="556546" w="556546">
                <a:moveTo>
                  <a:pt x="0" y="0"/>
                </a:moveTo>
                <a:lnTo>
                  <a:pt x="556546" y="0"/>
                </a:lnTo>
                <a:lnTo>
                  <a:pt x="556546" y="556546"/>
                </a:lnTo>
                <a:lnTo>
                  <a:pt x="0" y="556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970282"/>
            <a:ext cx="556546" cy="556546"/>
          </a:xfrm>
          <a:custGeom>
            <a:avLst/>
            <a:gdLst/>
            <a:ahLst/>
            <a:cxnLst/>
            <a:rect r="r" b="b" t="t" l="l"/>
            <a:pathLst>
              <a:path h="556546" w="556546">
                <a:moveTo>
                  <a:pt x="0" y="0"/>
                </a:moveTo>
                <a:lnTo>
                  <a:pt x="556546" y="0"/>
                </a:lnTo>
                <a:lnTo>
                  <a:pt x="556546" y="556546"/>
                </a:lnTo>
                <a:lnTo>
                  <a:pt x="0" y="556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044" y="8701754"/>
            <a:ext cx="537320" cy="556546"/>
          </a:xfrm>
          <a:custGeom>
            <a:avLst/>
            <a:gdLst/>
            <a:ahLst/>
            <a:cxnLst/>
            <a:rect r="r" b="b" t="t" l="l"/>
            <a:pathLst>
              <a:path h="556546" w="537320">
                <a:moveTo>
                  <a:pt x="0" y="0"/>
                </a:moveTo>
                <a:lnTo>
                  <a:pt x="537320" y="0"/>
                </a:lnTo>
                <a:lnTo>
                  <a:pt x="537320" y="556546"/>
                </a:lnTo>
                <a:lnTo>
                  <a:pt x="0" y="556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69559" y="1028700"/>
            <a:ext cx="9548882" cy="5937669"/>
          </a:xfrm>
          <a:custGeom>
            <a:avLst/>
            <a:gdLst/>
            <a:ahLst/>
            <a:cxnLst/>
            <a:rect r="r" b="b" t="t" l="l"/>
            <a:pathLst>
              <a:path h="5937669" w="9548882">
                <a:moveTo>
                  <a:pt x="0" y="0"/>
                </a:moveTo>
                <a:lnTo>
                  <a:pt x="9548882" y="0"/>
                </a:lnTo>
                <a:lnTo>
                  <a:pt x="9548882" y="5937669"/>
                </a:lnTo>
                <a:lnTo>
                  <a:pt x="0" y="59376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30171">
            <a:off x="3403448" y="570049"/>
            <a:ext cx="3320139" cy="3320139"/>
          </a:xfrm>
          <a:custGeom>
            <a:avLst/>
            <a:gdLst/>
            <a:ahLst/>
            <a:cxnLst/>
            <a:rect r="r" b="b" t="t" l="l"/>
            <a:pathLst>
              <a:path h="3320139" w="3320139">
                <a:moveTo>
                  <a:pt x="0" y="0"/>
                </a:moveTo>
                <a:lnTo>
                  <a:pt x="3320139" y="0"/>
                </a:lnTo>
                <a:lnTo>
                  <a:pt x="3320139" y="3320139"/>
                </a:lnTo>
                <a:lnTo>
                  <a:pt x="0" y="33201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84319">
            <a:off x="11582776" y="5230331"/>
            <a:ext cx="2935746" cy="1435847"/>
          </a:xfrm>
          <a:custGeom>
            <a:avLst/>
            <a:gdLst/>
            <a:ahLst/>
            <a:cxnLst/>
            <a:rect r="r" b="b" t="t" l="l"/>
            <a:pathLst>
              <a:path h="1435847" w="2935746">
                <a:moveTo>
                  <a:pt x="0" y="0"/>
                </a:moveTo>
                <a:lnTo>
                  <a:pt x="2935746" y="0"/>
                </a:lnTo>
                <a:lnTo>
                  <a:pt x="2935746" y="1435847"/>
                </a:lnTo>
                <a:lnTo>
                  <a:pt x="0" y="14358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63518" y="2161114"/>
            <a:ext cx="8160964" cy="378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9600">
                <a:solidFill>
                  <a:srgbClr val="FFD0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READY TO WORK WITH ME?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5340" y="7259908"/>
            <a:ext cx="611484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+6281260810608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5340" y="7991380"/>
            <a:ext cx="611484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www.linkedin.com/in/hanifah-zahra-fc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0996" y="8722852"/>
            <a:ext cx="611484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FFFFFF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hanifahzahrafc@gmail.com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DAHBay1lRP8</dc:identifier>
  <dcterms:modified xsi:type="dcterms:W3CDTF">2011-08-01T06:04:30Z</dcterms:modified>
  <cp:revision>1</cp:revision>
  <dc:title>Modern Bold Graphic Designer Creative Portfolio Presentation</dc:title>
</cp:coreProperties>
</file>